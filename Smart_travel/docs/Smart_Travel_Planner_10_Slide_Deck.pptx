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540"/>
          </a:solidFill>
          <a:ln>
            <a:solidFill>
              <a:srgbClr val="0F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88136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600"/>
              </a:spcAft>
            </a:pPr>
            <a:r>
              <a:rPr sz="2800" b="1">
                <a:solidFill>
                  <a:srgbClr val="0F2540"/>
                </a:solidFill>
                <a:latin typeface="Arial" panose="020B0604020202020204"/>
              </a:rPr>
              <a:t>Smart Travel Planner Application</a:t>
            </a:r>
            <a:endParaRPr sz="2800" b="1">
              <a:solidFill>
                <a:srgbClr val="0F2540"/>
              </a:solidFill>
              <a:latin typeface="Arial" panose="020B0604020202020204"/>
            </a:endParaRPr>
          </a:p>
          <a:p>
            <a:pPr>
              <a:spcAft>
                <a:spcPts val="1600"/>
              </a:spcAft>
              <a:defRPr sz="1800">
                <a:solidFill>
                  <a:srgbClr val="0F766E"/>
                </a:solidFill>
                <a:latin typeface="Arial" panose="020B0604020202020204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6647688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C6272"/>
                </a:solidFill>
                <a:latin typeface="Arial" panose="020B0604020202020204"/>
              </a:rPr>
              <a:t>Smart Travel Planner | Overview Deck</a:t>
            </a:r>
            <a:endParaRPr sz="800">
              <a:solidFill>
                <a:srgbClr val="4C62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540"/>
          </a:solidFill>
          <a:ln>
            <a:solidFill>
              <a:srgbClr val="0F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540"/>
                </a:solidFill>
                <a:latin typeface="Arial" panose="020B0604020202020204"/>
              </a:rPr>
              <a:t>1. Problem Statement and Objectives</a:t>
            </a:r>
            <a:endParaRPr sz="2400" b="1">
              <a:solidFill>
                <a:srgbClr val="0F2540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C6272"/>
                </a:solidFill>
                <a:latin typeface="Arial" panose="020B0604020202020204"/>
              </a:rPr>
              <a:t>Why the project was built and what it delivers</a:t>
            </a:r>
            <a:endParaRPr sz="1100">
              <a:solidFill>
                <a:srgbClr val="4C6272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766E"/>
                </a:solidFill>
                <a:latin typeface="Arial" panose="020B0604020202020204"/>
              </a:rPr>
              <a:t>Problem</a:t>
            </a:r>
            <a:endParaRPr sz="1800" b="1">
              <a:solidFill>
                <a:srgbClr val="0F766E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766E"/>
                </a:solidFill>
                <a:latin typeface="Arial" panose="020B0604020202020204"/>
              </a:rPr>
              <a:t>Objectives</a:t>
            </a:r>
            <a:endParaRPr sz="1800" b="1">
              <a:solidFill>
                <a:srgbClr val="0F766E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1206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Travel planning is fragmented across spreadsheets, notes, maps, and booking sites.</a:t>
            </a:r>
          </a:p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Users need one place to compare destinations, estimate cost, and organize a trip plan.</a:t>
            </a:r>
          </a:p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There is also a need for an academic project that demonstrates full-stack software engineering clearly.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Support secure registration, login, logout, and session control.</a:t>
            </a:r>
          </a:p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Generate recommendations, budgets, and day-wise itineraries.</a:t>
            </a:r>
          </a:p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Store trip history, analytics, exports, logs, and admin actions in a complete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647688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C6272"/>
                </a:solidFill>
                <a:latin typeface="Arial" panose="020B0604020202020204"/>
              </a:rPr>
              <a:t>Slide 2 | Problem and objectives</a:t>
            </a:r>
            <a:endParaRPr sz="800">
              <a:solidFill>
                <a:srgbClr val="4C62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540"/>
          </a:solidFill>
          <a:ln>
            <a:solidFill>
              <a:srgbClr val="0F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540"/>
                </a:solidFill>
                <a:latin typeface="Arial" panose="020B0604020202020204"/>
              </a:rPr>
              <a:t>2. Major Features</a:t>
            </a:r>
            <a:endParaRPr sz="2400" b="1">
              <a:solidFill>
                <a:srgbClr val="0F2540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C6272"/>
                </a:solidFill>
                <a:latin typeface="Arial" panose="020B0604020202020204"/>
              </a:rPr>
              <a:t>Functional scope delivered in the final implementation</a:t>
            </a:r>
            <a:endParaRPr sz="1100">
              <a:solidFill>
                <a:srgbClr val="4C6272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212B"/>
                </a:solidFill>
                <a:latin typeface="Arial" panose="020B0604020202020204"/>
              </a:defRPr>
            </a:pPr>
            <a:r>
              <a:t>User registration with validation and password policy enforcement</a:t>
            </a:r>
          </a:p>
          <a:p>
            <a:pPr>
              <a:spcAft>
                <a:spcPts val="1000"/>
              </a:spcAft>
              <a:defRPr sz="1700">
                <a:solidFill>
                  <a:srgbClr val="17212B"/>
                </a:solidFill>
                <a:latin typeface="Arial" panose="020B0604020202020204"/>
              </a:defRPr>
            </a:pPr>
            <a:r>
              <a:t>Secure authentication using PBKDF2 password hashing with per-user salts</a:t>
            </a:r>
          </a:p>
          <a:p>
            <a:pPr>
              <a:spcAft>
                <a:spcPts val="1000"/>
              </a:spcAft>
              <a:defRPr sz="1700">
                <a:solidFill>
                  <a:srgbClr val="17212B"/>
                </a:solidFill>
                <a:latin typeface="Arial" panose="020B0604020202020204"/>
              </a:defRPr>
            </a:pPr>
            <a:r>
              <a:t>User profile editing, travel preferences, and password change workflow</a:t>
            </a:r>
          </a:p>
          <a:p>
            <a:pPr>
              <a:spcAft>
                <a:spcPts val="1000"/>
              </a:spcAft>
              <a:defRPr sz="1700">
                <a:solidFill>
                  <a:srgbClr val="17212B"/>
                </a:solidFill>
                <a:latin typeface="Arial" panose="020B0604020202020204"/>
              </a:defRPr>
            </a:pPr>
            <a:r>
              <a:t>Destination recommendation engine based on budget, season, trip type, and interests</a:t>
            </a:r>
          </a:p>
          <a:p>
            <a:pPr>
              <a:spcAft>
                <a:spcPts val="1000"/>
              </a:spcAft>
              <a:defRPr sz="1700">
                <a:solidFill>
                  <a:srgbClr val="17212B"/>
                </a:solidFill>
                <a:latin typeface="Arial" panose="020B0604020202020204"/>
              </a:defRPr>
            </a:pPr>
            <a:r>
              <a:t>Budget engine covering stay, meals, transport, activities, flights, visa, and contingency</a:t>
            </a:r>
          </a:p>
          <a:p>
            <a:pPr>
              <a:spcAft>
                <a:spcPts val="1000"/>
              </a:spcAft>
              <a:defRPr sz="1700">
                <a:solidFill>
                  <a:srgbClr val="17212B"/>
                </a:solidFill>
                <a:latin typeface="Arial" panose="020B0604020202020204"/>
              </a:defRPr>
            </a:pPr>
            <a:r>
              <a:t>Automatic itinerary generation with day-wise morning, afternoon, and evening activities</a:t>
            </a:r>
          </a:p>
          <a:p>
            <a:pPr>
              <a:spcAft>
                <a:spcPts val="1000"/>
              </a:spcAft>
              <a:defRPr sz="1700">
                <a:solidFill>
                  <a:srgbClr val="17212B"/>
                </a:solidFill>
                <a:latin typeface="Arial" panose="020B0604020202020204"/>
              </a:defRPr>
            </a:pPr>
            <a:r>
              <a:t>Trip CRUD, trip history, analytics dashboard, exports, and administrator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647688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C6272"/>
                </a:solidFill>
                <a:latin typeface="Arial" panose="020B0604020202020204"/>
              </a:rPr>
              <a:t>Slide 3 | Feature inventory</a:t>
            </a:r>
            <a:endParaRPr sz="800">
              <a:solidFill>
                <a:srgbClr val="4C62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540"/>
          </a:solidFill>
          <a:ln>
            <a:solidFill>
              <a:srgbClr val="0F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540"/>
                </a:solidFill>
                <a:latin typeface="Arial" panose="020B0604020202020204"/>
              </a:rPr>
              <a:t>3. Technology Stack</a:t>
            </a:r>
            <a:endParaRPr sz="2400" b="1">
              <a:solidFill>
                <a:srgbClr val="0F2540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C6272"/>
                </a:solidFill>
                <a:latin typeface="Arial" panose="020B0604020202020204"/>
              </a:rPr>
              <a:t>Minimal dependency stack with a modular Python architecture</a:t>
            </a:r>
            <a:endParaRPr sz="1100">
              <a:solidFill>
                <a:srgbClr val="4C6272"/>
              </a:solidFill>
              <a:latin typeface="Arial" panose="020B060402020202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6070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600891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F2540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Streamlit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Multipage interactive web application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Backend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Python 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Business rules, validation, orchestration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SQLite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Persistent relational storage with foreign keys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Tabular metrics, export data, reporting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Charts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Plotly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Visual analytics for user and admin dashboards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Logging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logging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Application events, warnings, and exception traces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647688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C6272"/>
                </a:solidFill>
                <a:latin typeface="Arial" panose="020B0604020202020204"/>
              </a:rPr>
              <a:t>Slide 4 | Stack summary</a:t>
            </a:r>
            <a:endParaRPr sz="800">
              <a:solidFill>
                <a:srgbClr val="4C62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540"/>
          </a:solidFill>
          <a:ln>
            <a:solidFill>
              <a:srgbClr val="0F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540"/>
                </a:solidFill>
                <a:latin typeface="Arial" panose="020B0604020202020204"/>
              </a:rPr>
              <a:t>4. System Architecture</a:t>
            </a:r>
            <a:endParaRPr sz="2400" b="1">
              <a:solidFill>
                <a:srgbClr val="0F2540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C6272"/>
                </a:solidFill>
                <a:latin typeface="Arial" panose="020B0604020202020204"/>
              </a:rPr>
              <a:t>High-level flow from user interface to persistent storage</a:t>
            </a:r>
            <a:endParaRPr sz="1100">
              <a:solidFill>
                <a:srgbClr val="4C6272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0116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540"/>
                </a:solidFill>
                <a:latin typeface="Arial" panose="020B0604020202020204"/>
              </a:rPr>
              <a:t>Streamlit Pages</a:t>
            </a:r>
            <a:endParaRPr sz="1400" b="1">
              <a:solidFill>
                <a:srgbClr val="0F2540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834640" y="2011680"/>
            <a:ext cx="20116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540"/>
                </a:solidFill>
                <a:latin typeface="Arial" panose="020B0604020202020204"/>
              </a:rPr>
              <a:t>UI Helpers
Session + Navigation</a:t>
            </a:r>
            <a:endParaRPr sz="1400" b="1">
              <a:solidFill>
                <a:srgbClr val="0F254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0" y="2011680"/>
            <a:ext cx="219456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540"/>
                </a:solidFill>
                <a:latin typeface="Arial" panose="020B0604020202020204"/>
              </a:rPr>
              <a:t>Service Layer
Trip + Admin Workflows</a:t>
            </a:r>
            <a:endParaRPr sz="1400" b="1">
              <a:solidFill>
                <a:srgbClr val="0F2540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79" y="2011680"/>
            <a:ext cx="256032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540"/>
                </a:solidFill>
                <a:latin typeface="Arial" panose="020B0604020202020204"/>
              </a:rPr>
              <a:t>Core Engines
Budget + Itinerary + Recommendation</a:t>
            </a:r>
            <a:endParaRPr sz="1400" b="1">
              <a:solidFill>
                <a:srgbClr val="0F2540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06240" y="3931920"/>
            <a:ext cx="274320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540"/>
                </a:solidFill>
                <a:latin typeface="Arial" panose="020B0604020202020204"/>
              </a:rPr>
              <a:t>SQLite + Audit Log
Persistent Data</a:t>
            </a:r>
            <a:endParaRPr sz="1400" b="1">
              <a:solidFill>
                <a:srgbClr val="0F2540"/>
              </a:solidFill>
              <a:latin typeface="Arial" panose="020B0604020202020204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2468880"/>
            <a:ext cx="182880" cy="0"/>
          </a:xfrm>
          <a:prstGeom prst="line">
            <a:avLst/>
          </a:prstGeom>
          <a:ln w="228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46320" y="2468880"/>
            <a:ext cx="182880" cy="0"/>
          </a:xfrm>
          <a:prstGeom prst="line">
            <a:avLst/>
          </a:prstGeom>
          <a:ln w="228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23760" y="2468880"/>
            <a:ext cx="274319" cy="0"/>
          </a:xfrm>
          <a:prstGeom prst="line">
            <a:avLst/>
          </a:prstGeom>
          <a:ln w="228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77840" y="2926080"/>
            <a:ext cx="0" cy="1005840"/>
          </a:xfrm>
          <a:prstGeom prst="line">
            <a:avLst/>
          </a:prstGeom>
          <a:ln w="228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949440" y="2926080"/>
            <a:ext cx="1828800" cy="1005840"/>
          </a:xfrm>
          <a:prstGeom prst="line">
            <a:avLst/>
          </a:prstGeom>
          <a:ln w="228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5166360"/>
            <a:ext cx="10241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Arial" panose="020B0604020202020204"/>
              </a:defRPr>
            </a:pPr>
            <a:r>
              <a:t>Pages stay thin and delegate business logic to shared modules.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Arial" panose="020B0604020202020204"/>
              </a:defRPr>
            </a:pPr>
            <a:r>
              <a:t>Trip save operations combine validation, budget calculation, itinerary creation, recommendation generation, and database writes.</a:t>
            </a:r>
          </a:p>
          <a:p>
            <a:pPr>
              <a:spcAft>
                <a:spcPts val="1000"/>
              </a:spcAft>
              <a:defRPr sz="1400">
                <a:solidFill>
                  <a:srgbClr val="17212B"/>
                </a:solidFill>
                <a:latin typeface="Arial" panose="020B0604020202020204"/>
              </a:defRPr>
            </a:pPr>
            <a:r>
              <a:t>Audit and logging are cross-cutting concerns applied throughout the workflow.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647688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C6272"/>
                </a:solidFill>
                <a:latin typeface="Arial" panose="020B0604020202020204"/>
              </a:rPr>
              <a:t>Slide 5 | Architecture overview</a:t>
            </a:r>
            <a:endParaRPr sz="800">
              <a:solidFill>
                <a:srgbClr val="4C62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540"/>
          </a:solidFill>
          <a:ln>
            <a:solidFill>
              <a:srgbClr val="0F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540"/>
                </a:solidFill>
                <a:latin typeface="Arial" panose="020B0604020202020204"/>
              </a:rPr>
              <a:t>5. Database Design</a:t>
            </a:r>
            <a:endParaRPr sz="2400" b="1">
              <a:solidFill>
                <a:srgbClr val="0F2540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C6272"/>
                </a:solidFill>
                <a:latin typeface="Arial" panose="020B0604020202020204"/>
              </a:rPr>
              <a:t>Normalized SQLite schema with six operational tables</a:t>
            </a:r>
            <a:endParaRPr sz="1100">
              <a:solidFill>
                <a:srgbClr val="4C6272"/>
              </a:solidFill>
              <a:latin typeface="Arial" panose="020B060402020202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6070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5878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Key Role</a:t>
                      </a:r>
                    </a:p>
                  </a:txBody>
                  <a:tcPr>
                    <a:solidFill>
                      <a:srgbClr val="0F254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Identity, credential hash, role, account status, timestamps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user_preferences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Travel style, budget level, interests JSON, preferred continent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trips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Master trip record with dates, budget, status, and financial summary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trip_days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Day-wise itinerary records linked to each trip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trip_recommendations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Stored alternative destinations ranked at save time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app_audit_log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B"/>
                          </a:solidFill>
                          <a:latin typeface="Arial" panose="020B0604020202020204"/>
                        </a:defRPr>
                      </a:pPr>
                      <a:r>
                        <a:t>Trace of login, validation, trip, and admin events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89788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7212B"/>
                </a:solidFill>
                <a:latin typeface="Arial" panose="020B0604020202020204"/>
              </a:defRPr>
            </a:pPr>
            <a:r>
              <a:t>Foreign keys are enabled and child records are removed with parent trip deletion where appropriate.</a:t>
            </a:r>
          </a:p>
          <a:p>
            <a:pPr>
              <a:spcAft>
                <a:spcPts val="1000"/>
              </a:spcAft>
              <a:defRPr sz="1300">
                <a:solidFill>
                  <a:srgbClr val="17212B"/>
                </a:solidFill>
                <a:latin typeface="Arial" panose="020B0604020202020204"/>
              </a:defRPr>
            </a:pPr>
            <a:r>
              <a:t>Derived artifacts such as itinerary rows and budget breakdowns are persisted, not recreated blindly on every read.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647688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C6272"/>
                </a:solidFill>
                <a:latin typeface="Arial" panose="020B0604020202020204"/>
              </a:rPr>
              <a:t>Slide 6 | Schema summary</a:t>
            </a:r>
            <a:endParaRPr sz="800">
              <a:solidFill>
                <a:srgbClr val="4C62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540"/>
          </a:solidFill>
          <a:ln>
            <a:solidFill>
              <a:srgbClr val="0F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540"/>
                </a:solidFill>
                <a:latin typeface="Arial" panose="020B0604020202020204"/>
              </a:rPr>
              <a:t>6. Core Planning Engines</a:t>
            </a:r>
            <a:endParaRPr sz="2400" b="1">
              <a:solidFill>
                <a:srgbClr val="0F2540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C6272"/>
                </a:solidFill>
                <a:latin typeface="Arial" panose="020B0604020202020204"/>
              </a:rPr>
              <a:t>How recommendations, budgets, and itineraries are generated</a:t>
            </a:r>
            <a:endParaRPr sz="1100">
              <a:solidFill>
                <a:srgbClr val="4C6272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766E"/>
                </a:solidFill>
                <a:latin typeface="Arial" panose="020B0604020202020204"/>
              </a:rPr>
              <a:t>Algorithms</a:t>
            </a:r>
            <a:endParaRPr sz="1800" b="1">
              <a:solidFill>
                <a:srgbClr val="0F766E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766E"/>
                </a:solidFill>
                <a:latin typeface="Arial" panose="020B0604020202020204"/>
              </a:rPr>
              <a:t>Data Inputs</a:t>
            </a:r>
            <a:endParaRPr sz="1800" b="1">
              <a:solidFill>
                <a:srgbClr val="0F766E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1206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Recommendation scoring uses budget fit, interest scores, trip type, seasonality, and continent preference.</a:t>
            </a:r>
          </a:p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Budget estimation combines stay, meals, local transport, activities, flights, visa, and contingency.</a:t>
            </a:r>
          </a:p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Itinerary generation maps user interests to destination activity categories and builds day-wise plans.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Destination dataset includes costs, months, categories, trip types, and sample activities.</a:t>
            </a:r>
          </a:p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User preferences provide travel style, budget level, and interest signals.</a:t>
            </a:r>
          </a:p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Trip form inputs provide dates, traveler count, notes, and desired destination.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647688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C6272"/>
                </a:solidFill>
                <a:latin typeface="Arial" panose="020B0604020202020204"/>
              </a:rPr>
              <a:t>Slide 7 | Planning engines</a:t>
            </a:r>
            <a:endParaRPr sz="800">
              <a:solidFill>
                <a:srgbClr val="4C62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540"/>
          </a:solidFill>
          <a:ln>
            <a:solidFill>
              <a:srgbClr val="0F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540"/>
                </a:solidFill>
                <a:latin typeface="Arial" panose="020B0604020202020204"/>
              </a:rPr>
              <a:t>7. User and Admin Workflows</a:t>
            </a:r>
            <a:endParaRPr sz="2400" b="1">
              <a:solidFill>
                <a:srgbClr val="0F2540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C6272"/>
                </a:solidFill>
                <a:latin typeface="Arial" panose="020B0604020202020204"/>
              </a:rPr>
              <a:t>Operational flows supported by the application</a:t>
            </a:r>
            <a:endParaRPr sz="1100">
              <a:solidFill>
                <a:srgbClr val="4C6272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766E"/>
                </a:solidFill>
                <a:latin typeface="Arial" panose="020B0604020202020204"/>
              </a:rPr>
              <a:t>User Workflow</a:t>
            </a:r>
            <a:endParaRPr sz="1800" b="1">
              <a:solidFill>
                <a:srgbClr val="0F766E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766E"/>
                </a:solidFill>
                <a:latin typeface="Arial" panose="020B0604020202020204"/>
              </a:rPr>
              <a:t>Admin Workflow</a:t>
            </a:r>
            <a:endParaRPr sz="1800" b="1">
              <a:solidFill>
                <a:srgbClr val="0F766E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1206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Register -&gt; Login -&gt; Dashboard -&gt; Recommendations -&gt; Plan Trip -&gt; History -&gt; Analytics</a:t>
            </a:r>
          </a:p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Users can update profile, preferences, password, trip status, and actual cost.</a:t>
            </a:r>
          </a:p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Trip data can be exported as CSV, JSON, and Markdown.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Login with admin role -&gt; Open Admin Panel -&gt; Review users, trips, audit trail, and logs.</a:t>
            </a:r>
          </a:p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Admins can update access flags, change trip status, and delete trips.</a:t>
            </a:r>
          </a:p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Each privileged action is recorded in the audit log as an admin event.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647688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C6272"/>
                </a:solidFill>
                <a:latin typeface="Arial" panose="020B0604020202020204"/>
              </a:rPr>
              <a:t>Slide 8 | Workflow summary</a:t>
            </a:r>
            <a:endParaRPr sz="800">
              <a:solidFill>
                <a:srgbClr val="4C62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540"/>
          </a:solidFill>
          <a:ln>
            <a:solidFill>
              <a:srgbClr val="0F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540"/>
                </a:solidFill>
                <a:latin typeface="Arial" panose="020B0604020202020204"/>
              </a:rPr>
              <a:t>8. Validation, Logging, and Testing</a:t>
            </a:r>
            <a:endParaRPr sz="2400" b="1">
              <a:solidFill>
                <a:srgbClr val="0F2540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C6272"/>
                </a:solidFill>
                <a:latin typeface="Arial" panose="020B0604020202020204"/>
              </a:rPr>
              <a:t>Quality controls used in the delivered build</a:t>
            </a:r>
            <a:endParaRPr sz="1100">
              <a:solidFill>
                <a:srgbClr val="4C6272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Validation covers email format, password complexity, dates, traveler count, budget positivity, enum values, and selected interests.</a:t>
            </a:r>
          </a:p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Logging records startup, database initialization, registration, login attempts, successful login, logout, trip changes, admin actions, warnings, and exceptions.</a:t>
            </a:r>
          </a:p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Service smoke tests verified registration, authentication, trip save, itinerary generation, analytics, and admin metrics.</a:t>
            </a:r>
          </a:p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Streamlit AppTest execution covered all pages, including authenticated and admin-only routes.</a:t>
            </a:r>
          </a:p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A live server health check confirmed that `streamlit run app.py` starts successfully.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647688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C6272"/>
                </a:solidFill>
                <a:latin typeface="Arial" panose="020B0604020202020204"/>
              </a:rPr>
              <a:t>Slide 9 | Validation and verification</a:t>
            </a:r>
            <a:endParaRPr sz="800">
              <a:solidFill>
                <a:srgbClr val="4C62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540"/>
          </a:solidFill>
          <a:ln>
            <a:solidFill>
              <a:srgbClr val="0F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540"/>
                </a:solidFill>
                <a:latin typeface="Arial" panose="020B0604020202020204"/>
              </a:rPr>
              <a:t>9. Conclusion and Future Enhancements</a:t>
            </a:r>
            <a:endParaRPr sz="2400" b="1">
              <a:solidFill>
                <a:srgbClr val="0F2540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C6272"/>
                </a:solidFill>
                <a:latin typeface="Arial" panose="020B0604020202020204"/>
              </a:rPr>
              <a:t>Project outcome and next logical extensions</a:t>
            </a:r>
            <a:endParaRPr sz="1100">
              <a:solidFill>
                <a:srgbClr val="4C6272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766E"/>
                </a:solidFill>
                <a:latin typeface="Arial" panose="020B0604020202020204"/>
              </a:rPr>
              <a:t>Outcome</a:t>
            </a:r>
            <a:endParaRPr sz="1800" b="1">
              <a:solidFill>
                <a:srgbClr val="0F766E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766E"/>
                </a:solidFill>
                <a:latin typeface="Arial" panose="020B0604020202020204"/>
              </a:rPr>
              <a:t>Next Steps</a:t>
            </a:r>
            <a:endParaRPr sz="1800" b="1">
              <a:solidFill>
                <a:srgbClr val="0F766E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1206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The project is complete, runnable, modular, and validated end to end.</a:t>
            </a:r>
          </a:p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It demonstrates authentication, CRUD, analytics, algorithmic planning, exports, and governance.</a:t>
            </a:r>
          </a:p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The repository supports both academic review and practical demonstration.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Move from SQLite to PostgreSQL for higher concurrency.</a:t>
            </a:r>
          </a:p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Integrate maps, route planning, and external travel APIs.</a:t>
            </a:r>
          </a:p>
          <a:p>
            <a:pPr>
              <a:spcAft>
                <a:spcPts val="1000"/>
              </a:spcAft>
              <a:defRPr sz="1600">
                <a:solidFill>
                  <a:srgbClr val="17212B"/>
                </a:solidFill>
                <a:latin typeface="Arial" panose="020B0604020202020204"/>
              </a:defRPr>
            </a:pPr>
            <a:r>
              <a:t>Add richer recommendation logic, PDF export, and collaborative planning features.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647688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C6272"/>
                </a:solidFill>
                <a:latin typeface="Arial" panose="020B0604020202020204"/>
              </a:rPr>
              <a:t>Slide 10 | Closing summary</a:t>
            </a:r>
            <a:endParaRPr sz="800">
              <a:solidFill>
                <a:srgbClr val="4C62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5586</Words>
  <Application>WPS Presentation</Application>
  <PresentationFormat>On-screen Show (4:3)</PresentationFormat>
  <Paragraphs>208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Dhandabani Dhandabani M</cp:lastModifiedBy>
  <cp:revision>2</cp:revision>
  <dcterms:created xsi:type="dcterms:W3CDTF">2013-01-27T09:14:00Z</dcterms:created>
  <dcterms:modified xsi:type="dcterms:W3CDTF">2026-05-30T16:37:51Z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8824E77F51B64A0F9C1B5B31C5677464_12</vt:lpwstr>
  </property>
  <property fmtid="{D5CDD505-2E9C-101B-9397-08002B2CF9AE}" pid="3" name="KSOProductBuildVer">
    <vt:lpwstr>1033-12.1.0.26372</vt:lpwstr>
  </property>
</Properties>
</file>